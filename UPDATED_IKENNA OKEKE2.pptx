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371" r:id="rId2"/>
    <p:sldId id="372" r:id="rId3"/>
    <p:sldId id="373" r:id="rId4"/>
    <p:sldId id="375" r:id="rId5"/>
    <p:sldId id="376" r:id="rId6"/>
    <p:sldId id="386" r:id="rId7"/>
    <p:sldId id="377" r:id="rId8"/>
    <p:sldId id="378" r:id="rId9"/>
    <p:sldId id="389" r:id="rId10"/>
    <p:sldId id="381" r:id="rId11"/>
    <p:sldId id="382" r:id="rId12"/>
    <p:sldId id="387" r:id="rId13"/>
    <p:sldId id="388" r:id="rId14"/>
    <p:sldId id="383" r:id="rId15"/>
    <p:sldId id="384" r:id="rId16"/>
    <p:sldId id="385" r:id="rId17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onvection" panose="020B0604020202020204" charset="0"/>
      <p:regular r:id="rId27"/>
      <p:bold r:id="rId28"/>
      <p: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Rockwell" panose="02060603020205020403" pitchFamily="18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0D2D"/>
    <a:srgbClr val="760000"/>
    <a:srgbClr val="83603F"/>
    <a:srgbClr val="6F3505"/>
    <a:srgbClr val="EAE354"/>
    <a:srgbClr val="FFFFFF"/>
    <a:srgbClr val="238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6" autoAdjust="0"/>
    <p:restoredTop sz="89003" autoAdjust="0"/>
  </p:normalViewPr>
  <p:slideViewPr>
    <p:cSldViewPr>
      <p:cViewPr varScale="1">
        <p:scale>
          <a:sx n="91" d="100"/>
          <a:sy n="91" d="100"/>
        </p:scale>
        <p:origin x="64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8" y="3710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viewProps" Target="view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670A1-07FE-4E60-971A-EEC905C4E1F5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7F285-4C50-4F3D-B624-80174EC101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030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7F285-4C50-4F3D-B624-80174EC101D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654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An organic shape with a flat edge">
            <a:extLst>
              <a:ext uri="{FF2B5EF4-FFF2-40B4-BE49-F238E27FC236}">
                <a16:creationId xmlns:a16="http://schemas.microsoft.com/office/drawing/2014/main" id="{EC2E82F9-0710-4206-8675-2C26D3E505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28600" y="-5190698"/>
            <a:ext cx="10332640" cy="10332640"/>
          </a:xfrm>
          <a:prstGeom prst="rect">
            <a:avLst/>
          </a:prstGeom>
        </p:spPr>
      </p:pic>
      <p:pic>
        <p:nvPicPr>
          <p:cNvPr id="8" name="Picture 2" descr="C:\Users\Ours\Desktop\flash\c.u..jpg"/>
          <p:cNvPicPr>
            <a:picLocks noChangeAspect="1" noChangeArrowheads="1"/>
          </p:cNvPicPr>
          <p:nvPr userDrawn="1"/>
        </p:nvPicPr>
        <p:blipFill rotWithShape="1">
          <a:blip r:embed="rId4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48436" t="-169" b="47036"/>
          <a:stretch/>
        </p:blipFill>
        <p:spPr bwMode="auto">
          <a:xfrm>
            <a:off x="-3408" y="775917"/>
            <a:ext cx="3996083" cy="3168352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067944" y="842989"/>
            <a:ext cx="4896544" cy="2160809"/>
          </a:xfrm>
          <a:solidFill>
            <a:schemeClr val="bg1">
              <a:lumMod val="85000"/>
              <a:alpha val="16078"/>
            </a:schemeClr>
          </a:solidFill>
        </p:spPr>
        <p:txBody>
          <a:bodyPr>
            <a:noAutofit/>
          </a:bodyPr>
          <a:lstStyle>
            <a:lvl1pPr algn="l">
              <a:defRPr sz="4000" b="1">
                <a:solidFill>
                  <a:sysClr val="windowText" lastClr="000000"/>
                </a:solidFill>
                <a:latin typeface="Convection" panose="020B060404050104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4067944" y="3224189"/>
            <a:ext cx="3001052" cy="720080"/>
          </a:xfrm>
          <a:noFill/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17FA71A-FA0D-419B-9F03-02DE49487601}"/>
              </a:ext>
            </a:extLst>
          </p:cNvPr>
          <p:cNvGrpSpPr/>
          <p:nvPr userDrawn="1"/>
        </p:nvGrpSpPr>
        <p:grpSpPr>
          <a:xfrm>
            <a:off x="187956" y="415877"/>
            <a:ext cx="720080" cy="720080"/>
            <a:chOff x="-324544" y="267494"/>
            <a:chExt cx="720080" cy="72008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FF522F7-6F26-40B3-80A9-499B0986FAD0}"/>
                </a:ext>
              </a:extLst>
            </p:cNvPr>
            <p:cNvSpPr/>
            <p:nvPr userDrawn="1"/>
          </p:nvSpPr>
          <p:spPr>
            <a:xfrm>
              <a:off x="-324544" y="267494"/>
              <a:ext cx="720080" cy="7200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2" descr="C:\Users\Ours\Desktop\my stuffs\1 NTFS_000\LostFiles2\INSPIRATION\PROJECTS\MIND PROJECTS\cu_logo.pn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184079" y="393534"/>
              <a:ext cx="439150" cy="468000"/>
            </a:xfrm>
            <a:prstGeom prst="rect">
              <a:avLst/>
            </a:prstGeom>
            <a:noFill/>
          </p:spPr>
        </p:pic>
      </p:grp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61568CC-28C8-48A6-B00A-05A6BF8251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944269"/>
            <a:ext cx="3992675" cy="576519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latin typeface="Convection" panose="020B060404050104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406686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Ours\Desktop\flash\c.u.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t="41078" b="51590"/>
          <a:stretch/>
        </p:blipFill>
        <p:spPr bwMode="auto">
          <a:xfrm>
            <a:off x="0" y="4713087"/>
            <a:ext cx="9209063" cy="44886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05979"/>
            <a:ext cx="8928992" cy="857250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tx1"/>
                </a:solidFill>
                <a:latin typeface="Convection" panose="020B060404050104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00150"/>
            <a:ext cx="8928992" cy="3531839"/>
          </a:xfrm>
        </p:spPr>
        <p:txBody>
          <a:bodyPr anchor="ctr">
            <a:normAutofit/>
          </a:bodyPr>
          <a:lstStyle>
            <a:lvl1pPr marL="342900" indent="-342900">
              <a:lnSpc>
                <a:spcPct val="100000"/>
              </a:lnSpc>
              <a:spcBef>
                <a:spcPts val="400"/>
              </a:spcBef>
              <a:spcAft>
                <a:spcPts val="500"/>
              </a:spcAft>
              <a:buFont typeface="Wingdings" pitchFamily="2" charset="2"/>
              <a:buChar char="§"/>
              <a:defRPr sz="280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lnSpc>
                <a:spcPct val="100000"/>
              </a:lnSpc>
              <a:spcBef>
                <a:spcPts val="400"/>
              </a:spcBef>
              <a:spcAft>
                <a:spcPts val="500"/>
              </a:spcAft>
              <a:defRPr sz="2400">
                <a:solidFill>
                  <a:srgbClr val="76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lnSpc>
                <a:spcPct val="100000"/>
              </a:lnSpc>
              <a:spcBef>
                <a:spcPts val="400"/>
              </a:spcBef>
              <a:spcAft>
                <a:spcPts val="500"/>
              </a:spcAft>
              <a:defRPr sz="2000">
                <a:solidFill>
                  <a:srgbClr val="1F0D2D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defRPr sz="180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lnSpc>
                <a:spcPct val="100000"/>
              </a:lnSpc>
              <a:spcBef>
                <a:spcPts val="400"/>
              </a:spcBef>
              <a:spcAft>
                <a:spcPts val="500"/>
              </a:spcAft>
              <a:defRPr sz="180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5200" y="4818186"/>
            <a:ext cx="2133600" cy="273844"/>
          </a:xfr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Book Antiqua" pitchFamily="18" charset="0"/>
              </a:defRPr>
            </a:lvl1pPr>
          </a:lstStyle>
          <a:p>
            <a:fld id="{B2D481B8-F12E-4FB9-A3A8-66EE472E4641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95486"/>
            <a:ext cx="9144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107504" y="1063229"/>
            <a:ext cx="2565891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98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04" y="1216634"/>
            <a:ext cx="4388296" cy="3443348"/>
          </a:xfrm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solidFill>
                  <a:schemeClr val="accent6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solidFill>
                  <a:srgbClr val="1F0D2D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80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80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0330"/>
            <a:ext cx="4388296" cy="3409652"/>
          </a:xfrm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solidFill>
                  <a:schemeClr val="accent6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solidFill>
                  <a:srgbClr val="1F0D2D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80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80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5200" y="4818186"/>
            <a:ext cx="2133600" cy="273844"/>
          </a:xfr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Book Antiqua" pitchFamily="18" charset="0"/>
              </a:defRPr>
            </a:lvl1pPr>
          </a:lstStyle>
          <a:p>
            <a:fld id="{B2D481B8-F12E-4FB9-A3A8-66EE472E464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2" descr="C:\Users\Ours\Desktop\flash\c.u..jpg">
            <a:extLst>
              <a:ext uri="{FF2B5EF4-FFF2-40B4-BE49-F238E27FC236}">
                <a16:creationId xmlns:a16="http://schemas.microsoft.com/office/drawing/2014/main" id="{707809BC-1FB5-41B4-A128-46E21EA3590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t="41078" b="51590"/>
          <a:stretch/>
        </p:blipFill>
        <p:spPr bwMode="auto">
          <a:xfrm>
            <a:off x="-36512" y="4701003"/>
            <a:ext cx="9209063" cy="448868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92816A7-545E-4DDD-B31F-39B11C3A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05979"/>
            <a:ext cx="8928992" cy="857250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tx1"/>
                </a:solidFill>
                <a:latin typeface="Convection" panose="020B060404050104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7CFB80-C611-40AF-AC93-A3F96F65CB1C}"/>
              </a:ext>
            </a:extLst>
          </p:cNvPr>
          <p:cNvCxnSpPr/>
          <p:nvPr userDrawn="1"/>
        </p:nvCxnSpPr>
        <p:spPr>
          <a:xfrm>
            <a:off x="0" y="195486"/>
            <a:ext cx="9144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411D49-4109-4D81-B659-E96182690123}"/>
              </a:ext>
            </a:extLst>
          </p:cNvPr>
          <p:cNvCxnSpPr/>
          <p:nvPr userDrawn="1"/>
        </p:nvCxnSpPr>
        <p:spPr>
          <a:xfrm>
            <a:off x="107504" y="1063229"/>
            <a:ext cx="2565891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170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C:\Users\Ours\Desktop\flash\c.u..jpg">
            <a:extLst>
              <a:ext uri="{FF2B5EF4-FFF2-40B4-BE49-F238E27FC236}">
                <a16:creationId xmlns:a16="http://schemas.microsoft.com/office/drawing/2014/main" id="{39396DC6-7F7B-4402-825D-C16C8E9F01A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t="41078" b="51590"/>
          <a:stretch/>
        </p:blipFill>
        <p:spPr bwMode="auto">
          <a:xfrm>
            <a:off x="-36512" y="4701003"/>
            <a:ext cx="9209063" cy="448868"/>
          </a:xfrm>
          <a:prstGeom prst="rect">
            <a:avLst/>
          </a:prstGeom>
          <a:noFill/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5CBFAF8-0CD2-47F0-9FC3-3F384C981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05200" y="4818186"/>
            <a:ext cx="2133600" cy="273844"/>
          </a:xfr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Book Antiqua" pitchFamily="18" charset="0"/>
              </a:defRPr>
            </a:lvl1pPr>
          </a:lstStyle>
          <a:p>
            <a:fld id="{B2D481B8-F12E-4FB9-A3A8-66EE472E464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F6D75F1-0668-49CC-90AA-600FC0F1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05979"/>
            <a:ext cx="8928992" cy="857250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tx1"/>
                </a:solidFill>
                <a:latin typeface="Convection" panose="020B060404050104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244B87-BDDE-4CB1-A01A-331E01E57DFB}"/>
              </a:ext>
            </a:extLst>
          </p:cNvPr>
          <p:cNvCxnSpPr/>
          <p:nvPr userDrawn="1"/>
        </p:nvCxnSpPr>
        <p:spPr>
          <a:xfrm>
            <a:off x="0" y="195486"/>
            <a:ext cx="9144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BB1B2E-1E09-4E07-BC4A-2CCBC63B18F6}"/>
              </a:ext>
            </a:extLst>
          </p:cNvPr>
          <p:cNvCxnSpPr/>
          <p:nvPr userDrawn="1"/>
        </p:nvCxnSpPr>
        <p:spPr>
          <a:xfrm>
            <a:off x="107504" y="1063229"/>
            <a:ext cx="2565891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Ours\Desktop\flash\c.u..jpg">
            <a:extLst>
              <a:ext uri="{FF2B5EF4-FFF2-40B4-BE49-F238E27FC236}">
                <a16:creationId xmlns:a16="http://schemas.microsoft.com/office/drawing/2014/main" id="{1C1DD80C-82B2-43B7-A813-E23889E769A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t="41078" b="51590"/>
          <a:stretch/>
        </p:blipFill>
        <p:spPr bwMode="auto">
          <a:xfrm>
            <a:off x="-36512" y="4701003"/>
            <a:ext cx="9209063" cy="448868"/>
          </a:xfrm>
          <a:prstGeom prst="rect">
            <a:avLst/>
          </a:prstGeom>
          <a:noFill/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9A6DDB-8323-477D-B98F-E8E259FF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05200" y="4818186"/>
            <a:ext cx="2133600" cy="273844"/>
          </a:xfr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Book Antiqua" pitchFamily="18" charset="0"/>
              </a:defRPr>
            </a:lvl1pPr>
          </a:lstStyle>
          <a:p>
            <a:fld id="{B2D481B8-F12E-4FB9-A3A8-66EE472E464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373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481B8-F12E-4FB9-A3A8-66EE472E46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47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991/ijet.v16i18.23517" TargetMode="External"/><Relationship Id="rId7" Type="http://schemas.openxmlformats.org/officeDocument/2006/relationships/hyperlink" Target="https://doi.org/10.14569/IJACSA.2021.0120464" TargetMode="External"/><Relationship Id="rId2" Type="http://schemas.openxmlformats.org/officeDocument/2006/relationships/hyperlink" Target="https://doi.org/10.1088/1742-6596/1770/1/01201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app10196868" TargetMode="External"/><Relationship Id="rId5" Type="http://schemas.openxmlformats.org/officeDocument/2006/relationships/hyperlink" Target="https://doi.org/10.1016/j.procs.2022.09.404" TargetMode="External"/><Relationship Id="rId4" Type="http://schemas.openxmlformats.org/officeDocument/2006/relationships/hyperlink" Target="https://doi.org/10.1145/3197091.3197099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67944" y="771551"/>
            <a:ext cx="5076056" cy="2232248"/>
          </a:xfrm>
        </p:spPr>
        <p:txBody>
          <a:bodyPr/>
          <a:lstStyle/>
          <a:p>
            <a:r>
              <a:rPr lang="en-GB" sz="2800" dirty="0">
                <a:effectLst/>
              </a:rPr>
              <a:t>Development of a Student Academic Performance Prediction System using Machine Learning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7944" y="3224189"/>
            <a:ext cx="3312368" cy="716282"/>
          </a:xfrm>
        </p:spPr>
        <p:txBody>
          <a:bodyPr>
            <a:normAutofit fontScale="77500" lnSpcReduction="20000"/>
          </a:bodyPr>
          <a:lstStyle/>
          <a:p>
            <a:r>
              <a:rPr lang="en-US" sz="2600" b="1" dirty="0"/>
              <a:t>OKEKE MICHEAL IKENNA</a:t>
            </a:r>
          </a:p>
          <a:p>
            <a:r>
              <a:rPr lang="en-US" sz="2000" dirty="0"/>
              <a:t>22CD032179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3BF409D-FBCA-47A9-9CA6-56A4BF8C11BD}"/>
              </a:ext>
            </a:extLst>
          </p:cNvPr>
          <p:cNvSpPr txBox="1">
            <a:spLocks/>
          </p:cNvSpPr>
          <p:nvPr/>
        </p:nvSpPr>
        <p:spPr>
          <a:xfrm>
            <a:off x="4067944" y="3940471"/>
            <a:ext cx="37444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Dr OLURANTI JONATHAN</a:t>
            </a:r>
          </a:p>
          <a:p>
            <a:r>
              <a:rPr lang="en-US" sz="1400" dirty="0"/>
              <a:t>Supervisor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5932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31"/>
    </mc:Choice>
    <mc:Fallback xmlns="">
      <p:transition spd="slow" advTm="64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GB" dirty="0"/>
              <a:t>Introduction</a:t>
            </a:r>
          </a:p>
          <a:p>
            <a:r>
              <a:rPr lang="en-GB" dirty="0"/>
              <a:t>Statement of the Problem</a:t>
            </a:r>
          </a:p>
          <a:p>
            <a:r>
              <a:rPr lang="en-GB" dirty="0"/>
              <a:t>Aim and Objectives</a:t>
            </a:r>
          </a:p>
          <a:p>
            <a:r>
              <a:rPr lang="en-GB" dirty="0"/>
              <a:t>Methodology</a:t>
            </a:r>
          </a:p>
          <a:p>
            <a:r>
              <a:rPr lang="en-GB" dirty="0"/>
              <a:t>Literature Review</a:t>
            </a:r>
          </a:p>
          <a:p>
            <a:r>
              <a:rPr lang="en-GB" dirty="0"/>
              <a:t>Significance of the Study</a:t>
            </a:r>
          </a:p>
          <a:p>
            <a:r>
              <a:rPr lang="en-GB" dirty="0"/>
              <a:t>Conclusion</a:t>
            </a:r>
          </a:p>
          <a:p>
            <a:r>
              <a:rPr lang="en-GB" dirty="0"/>
              <a:t>References</a:t>
            </a:r>
          </a:p>
          <a:p>
            <a:r>
              <a:rPr lang="en-GB" dirty="0">
                <a:effectLst/>
              </a:rPr>
              <a:t>Appreciation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365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05979"/>
            <a:ext cx="8712968" cy="565571"/>
          </a:xfrm>
        </p:spPr>
        <p:txBody>
          <a:bodyPr>
            <a:normAutofit fontScale="90000"/>
          </a:bodyPr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45166"/>
            <a:ext cx="8712968" cy="3312368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4000" dirty="0">
                <a:effectLst/>
                <a:latin typeface="Rockwell" panose="02060603020205020403" pitchFamily="18" charset="0"/>
              </a:rPr>
              <a:t>Student academic performance prediction has become a critical challenge in modern education.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4000" dirty="0">
                <a:effectLst/>
                <a:latin typeface="Rockwell" panose="02060603020205020403" pitchFamily="18" charset="0"/>
              </a:rPr>
              <a:t>Manual monitoring is no longer feasible due to increasing student populations and complex influencing factors (Hellas et al., 2018).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208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19782"/>
            <a:ext cx="8928992" cy="709587"/>
          </a:xfrm>
        </p:spPr>
        <p:txBody>
          <a:bodyPr/>
          <a:lstStyle/>
          <a:p>
            <a:r>
              <a:rPr lang="en-GB" dirty="0"/>
              <a:t>Statement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17449"/>
            <a:ext cx="8928992" cy="3600399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GB" sz="2400" dirty="0">
                <a:effectLst/>
                <a:latin typeface="Rockwell" panose="02060603020205020403" pitchFamily="18" charset="0"/>
              </a:rPr>
              <a:t>Traditional manual monitoring is slow, inconsistent, and unscalable (Belachew &amp; Gobena, 2017).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GB" sz="2400" dirty="0">
                <a:effectLst/>
                <a:latin typeface="Rockwell" panose="02060603020205020403" pitchFamily="18" charset="0"/>
              </a:rPr>
              <a:t>Most existing tools depend only on previous grades and ignore behavioural, demographic, and psychographic factors (Waheed et al., 2020).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en-GB" sz="2400" dirty="0">
              <a:latin typeface="Rockwell" panose="020606030202050204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914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46" y="1419622"/>
            <a:ext cx="8908707" cy="230425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NG" sz="2400" kern="1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 develop and evaluate a machine learning–based prediction system capable of accurately forecasting student academic performance using relevant academic, demographic, and behavioral factors to support early intervention and decision-making.</a:t>
            </a:r>
            <a:endParaRPr lang="en-NG" sz="2400" kern="100" dirty="0">
              <a:effectLst/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400" dirty="0">
              <a:latin typeface="Rockwell" panose="020606030202050204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530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F1F5-F026-4FD1-8BC1-A4DCB988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86" y="205979"/>
            <a:ext cx="8815809" cy="781595"/>
          </a:xfrm>
        </p:spPr>
        <p:txBody>
          <a:bodyPr>
            <a:normAutofit/>
          </a:bodyPr>
          <a:lstStyle/>
          <a:p>
            <a:r>
              <a:rPr lang="en-GB" sz="36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AF492-2491-439E-9DB2-55AB1CFCF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687" y="1409129"/>
            <a:ext cx="8702625" cy="352839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1500" dirty="0">
                <a:effectLst/>
                <a:latin typeface="Rockwell" panose="02060603020205020403" pitchFamily="18" charset="0"/>
              </a:rPr>
              <a:t>The aim is achieved through the following objectives: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NG" sz="1500" kern="1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collect and preprocess relevant student data including academic records, attendance, demographics, and behavioral attributes.</a:t>
            </a:r>
            <a:endParaRPr lang="en-GB" sz="1500" kern="100" dirty="0">
              <a:effectLst/>
              <a:latin typeface="Rockwell" panose="020606030202050204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romanLcPeriod"/>
            </a:pPr>
            <a:r>
              <a:rPr lang="en-NG" sz="1500" kern="1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 perform feature selection and engineering to identify the most influential factors affecting student academic performance.</a:t>
            </a:r>
            <a:endParaRPr lang="en-GB" sz="1500" kern="100" dirty="0"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NG" sz="1500" kern="1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 train and compare multiple machine learning algorithms (e.g., Random Forest, Support Vector Machine, Logistic Regression, and Gradient Boosting) for predictive accuracy.</a:t>
            </a:r>
            <a:endParaRPr lang="en-GB" sz="1500" kern="100" dirty="0">
              <a:effectLst/>
              <a:latin typeface="Rockwell" panose="02060603020205020403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NG" sz="1500" kern="1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 evaluate model performance using </a:t>
            </a:r>
            <a:r>
              <a:rPr lang="en-NG" sz="1500" kern="100" dirty="0" err="1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appropiate</a:t>
            </a:r>
            <a:r>
              <a:rPr lang="en-NG" sz="1500" kern="1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metrics such as accuracy, precision, recall, F1-score, and ROC-AUC.</a:t>
            </a:r>
            <a:endParaRPr lang="en-GB" sz="1500" kern="100" dirty="0">
              <a:effectLst/>
              <a:latin typeface="Rockwell" panose="02060603020205020403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NG" sz="1500" kern="1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 develop a prototype prediction system that provides early alerts for at-risk students based on model outputs.</a:t>
            </a:r>
            <a:endParaRPr lang="en-GB" sz="1500" kern="100" dirty="0">
              <a:effectLst/>
              <a:latin typeface="Rockwell" panose="02060603020205020403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71500" indent="-571500" algn="just">
              <a:buFont typeface="+mj-lt"/>
              <a:buAutoNum type="romanLcPeriod"/>
            </a:pPr>
            <a:r>
              <a:rPr lang="en-NG" sz="1500" kern="1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 analyze the results and provide insights and recommendations for academic planning and student support.</a:t>
            </a:r>
            <a:endParaRPr lang="en-NG" sz="1500" kern="100" dirty="0">
              <a:effectLst/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NG" sz="1500" kern="100" dirty="0">
              <a:effectLst/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+mj-lt"/>
              <a:buAutoNum type="romanLcPeriod"/>
            </a:pPr>
            <a:endParaRPr lang="en-NG" sz="1500" kern="100" dirty="0">
              <a:effectLst/>
              <a:latin typeface="Rockwell" panose="02060603020205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8F8A-D7FB-4676-8B67-634E4A27E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470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74789"/>
            <a:ext cx="8928992" cy="26210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dirty="0">
                <a:effectLst/>
                <a:latin typeface="Rockwell" panose="02060603020205020403" pitchFamily="18" charset="0"/>
              </a:rPr>
              <a:t>The study follows a complete data science pipeline: data collection → pre-processing → feature selection → model training using Random Forest and other algorithms → evaluation → </a:t>
            </a:r>
            <a:r>
              <a:rPr lang="en-GB" sz="2400" dirty="0">
                <a:effectLst/>
                <a:latin typeface="Rockwell" panose="02060603020205020403" pitchFamily="18" charset="0"/>
                <a:ea typeface="Calibri" panose="020F0502020204030204" pitchFamily="34" charset="0"/>
              </a:rPr>
              <a:t>Implementing of Prediction System </a:t>
            </a:r>
            <a:r>
              <a:rPr lang="en-GB" sz="2400" dirty="0">
                <a:effectLst/>
                <a:latin typeface="Rockwell" panose="02060603020205020403" pitchFamily="18" charset="0"/>
              </a:rPr>
              <a:t>→ </a:t>
            </a:r>
            <a:r>
              <a:rPr lang="en-NG" sz="2400" kern="1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Validation</a:t>
            </a:r>
            <a:r>
              <a:rPr lang="en-GB" sz="2400" dirty="0">
                <a:effectLst/>
                <a:latin typeface="Rockwell" panose="02060603020205020403" pitchFamily="18" charset="0"/>
              </a:rPr>
              <a:t> </a:t>
            </a:r>
            <a:r>
              <a:rPr lang="en-NG" sz="2400" kern="1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and </a:t>
            </a:r>
            <a:r>
              <a:rPr lang="en-NG" sz="2400" kern="10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Results Analysis</a:t>
            </a:r>
            <a:endParaRPr lang="en-GB" sz="2400" dirty="0">
              <a:latin typeface="Rockwell" panose="020606030202050204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067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3971"/>
            <a:ext cx="8784976" cy="493563"/>
          </a:xfrm>
        </p:spPr>
        <p:txBody>
          <a:bodyPr>
            <a:noAutofit/>
          </a:bodyPr>
          <a:lstStyle/>
          <a:p>
            <a:r>
              <a:rPr lang="en-GB" sz="3200" dirty="0"/>
              <a:t>Objectives-Methodology Mapping Table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FF33D47-085E-49CB-B4CA-995D83FE72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769645"/>
              </p:ext>
            </p:extLst>
          </p:nvPr>
        </p:nvGraphicFramePr>
        <p:xfrm>
          <a:off x="0" y="627534"/>
          <a:ext cx="9262417" cy="4386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634">
                  <a:extLst>
                    <a:ext uri="{9D8B030D-6E8A-4147-A177-3AD203B41FA5}">
                      <a16:colId xmlns:a16="http://schemas.microsoft.com/office/drawing/2014/main" val="2478319625"/>
                    </a:ext>
                  </a:extLst>
                </a:gridCol>
                <a:gridCol w="3585811">
                  <a:extLst>
                    <a:ext uri="{9D8B030D-6E8A-4147-A177-3AD203B41FA5}">
                      <a16:colId xmlns:a16="http://schemas.microsoft.com/office/drawing/2014/main" val="112058048"/>
                    </a:ext>
                  </a:extLst>
                </a:gridCol>
                <a:gridCol w="5078972">
                  <a:extLst>
                    <a:ext uri="{9D8B030D-6E8A-4147-A177-3AD203B41FA5}">
                      <a16:colId xmlns:a16="http://schemas.microsoft.com/office/drawing/2014/main" val="2242560484"/>
                    </a:ext>
                  </a:extLst>
                </a:gridCol>
              </a:tblGrid>
              <a:tr h="291676">
                <a:tc>
                  <a:txBody>
                    <a:bodyPr/>
                    <a:lstStyle/>
                    <a:p>
                      <a:r>
                        <a:rPr lang="en-GB" dirty="0"/>
                        <a:t>S/N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Objective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Methodology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181198"/>
                  </a:ext>
                </a:extLst>
              </a:tr>
              <a:tr h="947947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GB"/>
                        <a:t>                                    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NG" sz="1800" kern="10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 collect and preprocess relevant student data including academic records, attendance, demographics, and behavioral attributes.</a:t>
                      </a:r>
                      <a:endParaRPr lang="en-GB" sz="1800" kern="100" dirty="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 historical data from institutional databases, student records, or publicly available educational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567594"/>
                  </a:ext>
                </a:extLst>
              </a:tr>
              <a:tr h="729190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AutoNum type="romanLcPeriod" startAt="2"/>
                      </a:pPr>
                      <a:r>
                        <a:rPr lang="en-GB" dirty="0"/>
                        <a:t>                                       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NG" sz="1800" kern="100" dirty="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perform feature selection and engineering </a:t>
                      </a:r>
                      <a:endParaRPr lang="en-GB" sz="1800" kern="100" dirty="0">
                        <a:latin typeface="+mj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correlation analysis, chi-square test, mutual information, or Recursive Feature Elimination (RFE)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624735"/>
                  </a:ext>
                </a:extLst>
              </a:tr>
              <a:tr h="859875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AutoNum type="romanLcPeriod" startAt="3"/>
                      </a:pPr>
                      <a:r>
                        <a:rPr lang="en-GB" dirty="0"/>
                        <a:t> 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NG" sz="1800" kern="100" dirty="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train and compare multiple machine learning algorithms (e.g., Random Forest, S</a:t>
                      </a:r>
                      <a:r>
                        <a:rPr lang="en-GB" sz="1800" kern="100" dirty="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VM, Decision tree)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 dataset into training and testing sets</a:t>
                      </a:r>
                    </a:p>
                    <a:p>
                      <a:r>
                        <a:rPr lang="en-N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 multiple algorithms</a:t>
                      </a:r>
                      <a:endParaRPr lang="en-GB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236713"/>
                  </a:ext>
                </a:extLst>
              </a:tr>
              <a:tr h="947947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AutoNum type="romanLcPeriod" startAt="4"/>
                      </a:pPr>
                      <a:r>
                        <a:rPr lang="en-GB" dirty="0"/>
                        <a:t> 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NG" sz="1800" kern="100" dirty="0"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evaluate model performance using appropriate metrics such as accuracy, precision, recall, F1-score</a:t>
                      </a:r>
                      <a:endParaRPr lang="en-GB" sz="1800" kern="100" dirty="0">
                        <a:effectLst/>
                        <a:latin typeface="+mj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lang="en-GB" sz="1800" kern="1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Evaluation using; Accuracy, precision and recall, F1-score, Confusion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8558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410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B26B49F-6470-4076-8C6F-15F54EE4D1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21917"/>
              </p:ext>
            </p:extLst>
          </p:nvPr>
        </p:nvGraphicFramePr>
        <p:xfrm>
          <a:off x="13199" y="267494"/>
          <a:ext cx="8928099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409">
                  <a:extLst>
                    <a:ext uri="{9D8B030D-6E8A-4147-A177-3AD203B41FA5}">
                      <a16:colId xmlns:a16="http://schemas.microsoft.com/office/drawing/2014/main" val="1742290512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3047509436"/>
                    </a:ext>
                  </a:extLst>
                </a:gridCol>
                <a:gridCol w="4225282">
                  <a:extLst>
                    <a:ext uri="{9D8B030D-6E8A-4147-A177-3AD203B41FA5}">
                      <a16:colId xmlns:a16="http://schemas.microsoft.com/office/drawing/2014/main" val="2333059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S/N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Objective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Methodology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3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AutoNum type="romanLcPeriod" startAt="5"/>
                      </a:pPr>
                      <a:r>
                        <a:rPr lang="en-GB" dirty="0"/>
                        <a:t> 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develop a prototype prediction system that provides early alerts for at-risk students based on model outputs.</a:t>
                      </a:r>
                    </a:p>
                    <a:p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Implementing of Prediction System</a:t>
                      </a:r>
                      <a:endParaRPr lang="en-NG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a simple web or desktop interface using Flask/Django</a:t>
                      </a:r>
                      <a:endParaRPr lang="en-GB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 user input of student attributes to generate performance predictions.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23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AutoNum type="romanLcPeriod" startAt="6"/>
                      </a:pPr>
                      <a:r>
                        <a:rPr lang="en-GB" dirty="0"/>
                        <a:t> 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analyze the results and provide insights and recommendations for academic planning and student support.</a:t>
                      </a:r>
                    </a:p>
                    <a:p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N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Validation and Results Analysis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NG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N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Interpret model outputs</a:t>
                      </a:r>
                    </a:p>
                    <a:p>
                      <a:pPr lvl="0"/>
                      <a:r>
                        <a:rPr lang="en-N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Present feature importance Provide recommendations for academic intervention strategies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46377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D24A4-EE38-4B1B-B069-83A297BA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768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effectLst/>
              </a:rPr>
              <a:t>Literature Review: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GB" sz="2400" dirty="0">
                <a:effectLst/>
                <a:latin typeface="Rockwell" panose="02060603020205020403" pitchFamily="18" charset="0"/>
              </a:rPr>
              <a:t>Random Forest consistently ranks among the top-performing algorithms in educational data mining due to its ensemble nature and resistance to overfitting (Hasan et al., 2021; Alomari et al., 2023).</a:t>
            </a:r>
          </a:p>
          <a:p>
            <a:pPr marL="0" indent="0" algn="just">
              <a:buNone/>
            </a:pPr>
            <a:r>
              <a:rPr lang="en-GB" sz="2400" dirty="0">
                <a:effectLst/>
                <a:latin typeface="Rockwell" panose="02060603020205020403" pitchFamily="18" charset="0"/>
              </a:rPr>
              <a:t> Studies combining academic, demographic, behavioural, and psychographic features achieve the highest accuracy (Waheed et al., 2020).</a:t>
            </a:r>
          </a:p>
          <a:p>
            <a:pPr marL="0" indent="0" algn="just">
              <a:buNone/>
            </a:pPr>
            <a:r>
              <a:rPr lang="en-GB" sz="2400" dirty="0">
                <a:effectLst/>
                <a:latin typeface="Rockwell" panose="02060603020205020403" pitchFamily="18" charset="0"/>
              </a:rPr>
              <a:t> Early warning systems built on strong classifiers like Random Forest enable proactive academic support (Kabakus &amp; Kara, 2022).</a:t>
            </a:r>
          </a:p>
          <a:p>
            <a:pPr marL="0" indent="0" algn="just">
              <a:buNone/>
            </a:pPr>
            <a:endParaRPr lang="en-GB" sz="2400" dirty="0">
              <a:latin typeface="Rockwell" panose="020606030202050204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624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5314"/>
            <a:ext cx="8928992" cy="857250"/>
          </a:xfrm>
        </p:spPr>
        <p:txBody>
          <a:bodyPr>
            <a:normAutofit/>
          </a:bodyPr>
          <a:lstStyle/>
          <a:p>
            <a:r>
              <a:rPr lang="en-GB" sz="3200" dirty="0">
                <a:effectLst/>
              </a:rPr>
              <a:t>Related Works Comparison Table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F2AB930-600C-4941-9243-CE1421A676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401150"/>
              </p:ext>
            </p:extLst>
          </p:nvPr>
        </p:nvGraphicFramePr>
        <p:xfrm>
          <a:off x="0" y="821936"/>
          <a:ext cx="9252520" cy="4321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035">
                  <a:extLst>
                    <a:ext uri="{9D8B030D-6E8A-4147-A177-3AD203B41FA5}">
                      <a16:colId xmlns:a16="http://schemas.microsoft.com/office/drawing/2014/main" val="1799154974"/>
                    </a:ext>
                  </a:extLst>
                </a:gridCol>
                <a:gridCol w="3003865">
                  <a:extLst>
                    <a:ext uri="{9D8B030D-6E8A-4147-A177-3AD203B41FA5}">
                      <a16:colId xmlns:a16="http://schemas.microsoft.com/office/drawing/2014/main" val="3057227535"/>
                    </a:ext>
                  </a:extLst>
                </a:gridCol>
                <a:gridCol w="2387453">
                  <a:extLst>
                    <a:ext uri="{9D8B030D-6E8A-4147-A177-3AD203B41FA5}">
                      <a16:colId xmlns:a16="http://schemas.microsoft.com/office/drawing/2014/main" val="2651852680"/>
                    </a:ext>
                  </a:extLst>
                </a:gridCol>
                <a:gridCol w="2090167">
                  <a:extLst>
                    <a:ext uri="{9D8B030D-6E8A-4147-A177-3AD203B41FA5}">
                      <a16:colId xmlns:a16="http://schemas.microsoft.com/office/drawing/2014/main" val="3003640332"/>
                    </a:ext>
                  </a:extLst>
                </a:gridCol>
              </a:tblGrid>
              <a:tr h="643637">
                <a:tc>
                  <a:txBody>
                    <a:bodyPr/>
                    <a:lstStyle/>
                    <a:p>
                      <a:r>
                        <a:rPr lang="en-GB" dirty="0"/>
                        <a:t>Author(s) &amp; Year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Title / Focus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Method Used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Reported Accuracy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407582"/>
                  </a:ext>
                </a:extLst>
              </a:tr>
              <a:tr h="9194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Kabakus &amp; Kara (2022)</a:t>
                      </a:r>
                    </a:p>
                    <a:p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Student placement performance prediction</a:t>
                      </a:r>
                    </a:p>
                    <a:p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Multilayer Perceptron</a:t>
                      </a:r>
                    </a:p>
                    <a:p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G" dirty="0">
                          <a:effectLst/>
                        </a:rPr>
                        <a:t>96.7%</a:t>
                      </a:r>
                    </a:p>
                    <a:p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399614"/>
                  </a:ext>
                </a:extLst>
              </a:tr>
              <a:tr h="643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Waheed et al.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Predicting performance using 33 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Gradient Boosting</a:t>
                      </a:r>
                    </a:p>
                    <a:p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G" dirty="0">
                          <a:effectLst/>
                        </a:rPr>
                        <a:t>93.8%</a:t>
                      </a:r>
                    </a:p>
                    <a:p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919269"/>
                  </a:ext>
                </a:extLst>
              </a:tr>
              <a:tr h="9194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Hasan et al. (2021); Alomari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Ensemble-based student performance prediction</a:t>
                      </a:r>
                    </a:p>
                    <a:p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SVM + DT + KNN Ensemble</a:t>
                      </a:r>
                    </a:p>
                    <a:p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G" dirty="0">
                          <a:effectLst/>
                        </a:rPr>
                        <a:t>90.57%</a:t>
                      </a:r>
                    </a:p>
                    <a:p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932577"/>
                  </a:ext>
                </a:extLst>
              </a:tr>
              <a:tr h="11953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Francis &amp; Babu (2021); Yousafzai et al.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SVM-based student grade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Support Vector     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G" dirty="0">
                          <a:effectLst/>
                        </a:rPr>
                        <a:t>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65953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6720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7DE8-840A-4D6A-A112-3587E2E6A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08" y="21196"/>
            <a:ext cx="8928992" cy="857250"/>
          </a:xfrm>
        </p:spPr>
        <p:txBody>
          <a:bodyPr>
            <a:normAutofit/>
          </a:bodyPr>
          <a:lstStyle/>
          <a:p>
            <a:r>
              <a:rPr lang="en-GB" sz="3600" b="1" dirty="0"/>
              <a:t>Significance of the Study</a:t>
            </a:r>
            <a:endParaRPr lang="en-N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26023-ED7B-45ED-A52B-6F62B01D2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08" y="1347615"/>
            <a:ext cx="8850516" cy="3096343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effectLst/>
                <a:latin typeface="Rockwell" panose="02060603020205020403" pitchFamily="18" charset="0"/>
              </a:rPr>
              <a:t>The significance of this study lies in its potential to provide educational institutions with an accurate, interpretable, and easy-to-deploy prediction system </a:t>
            </a:r>
          </a:p>
          <a:p>
            <a:pPr algn="just"/>
            <a:r>
              <a:rPr lang="en-GB" sz="2400" dirty="0">
                <a:effectLst/>
                <a:latin typeface="Rockwell" panose="02060603020205020403" pitchFamily="18" charset="0"/>
              </a:rPr>
              <a:t>It enables early detection of at-risk students, supports personalized intervention, and optimizes resource allocation. </a:t>
            </a:r>
            <a:endParaRPr lang="en-NG" sz="2400" dirty="0">
              <a:latin typeface="Rockwell" panose="020606030202050204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AE439-EA80-4C71-912A-3F0412A8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978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BE00-640D-4357-B202-3FBDEB0B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effectLst/>
              </a:rPr>
              <a:t>Conclusion</a:t>
            </a:r>
            <a:endParaRPr lang="en-N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0A016-3321-43A2-8F57-70E3ADEA0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34604"/>
            <a:ext cx="8928992" cy="3531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500" dirty="0">
                <a:effectLst/>
              </a:rPr>
              <a:t>This project successfully aims at developing a student academic performance prediction system using the Random Forest machine learning algorithm. </a:t>
            </a: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02213-1C57-43B0-9B8E-A20C8C76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520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08" y="35829"/>
            <a:ext cx="8928992" cy="857250"/>
          </a:xfrm>
        </p:spPr>
        <p:txBody>
          <a:bodyPr>
            <a:normAutofit/>
          </a:bodyPr>
          <a:lstStyle/>
          <a:p>
            <a:r>
              <a:rPr lang="en-GB" sz="3600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1630"/>
            <a:ext cx="9036496" cy="3240360"/>
          </a:xfrm>
        </p:spPr>
        <p:txBody>
          <a:bodyPr>
            <a:normAutofit fontScale="25000" lnSpcReduction="20000"/>
          </a:bodyPr>
          <a:lstStyle/>
          <a:p>
            <a:r>
              <a:rPr lang="en-GB" sz="5200" dirty="0">
                <a:effectLst/>
              </a:rPr>
              <a:t>Belachew, E. B., &amp; Gobena, F. A. (2017). Student performance prediction model using machine learning approach: The case of Wolkite University. </a:t>
            </a:r>
            <a:r>
              <a:rPr lang="en-GB" sz="5200" i="1" dirty="0">
                <a:effectLst/>
              </a:rPr>
              <a:t>International Journal of Advanced Research in Computer Science and Software Engineering, 7</a:t>
            </a:r>
            <a:r>
              <a:rPr lang="en-GB" sz="5200" dirty="0">
                <a:effectLst/>
              </a:rPr>
              <a:t>(2), 46–50.</a:t>
            </a:r>
          </a:p>
          <a:p>
            <a:r>
              <a:rPr lang="en-GB" sz="5200" dirty="0">
                <a:effectLst/>
              </a:rPr>
              <a:t>Francis, B. K., &amp; Babu, S. S. (2021). Predicting academic performance of students using classification techniques. </a:t>
            </a:r>
            <a:r>
              <a:rPr lang="en-GB" sz="5200" i="1" dirty="0">
                <a:effectLst/>
              </a:rPr>
              <a:t>Journal of Physics: Conference Series, 1770</a:t>
            </a:r>
            <a:r>
              <a:rPr lang="en-GB" sz="5200" dirty="0">
                <a:effectLst/>
              </a:rPr>
              <a:t>(1), 012018. </a:t>
            </a:r>
            <a:r>
              <a:rPr lang="en-GB" sz="5200" dirty="0">
                <a:effectLst/>
                <a:hlinkClick r:id="rId2"/>
              </a:rPr>
              <a:t>https://doi.org/10.1088/1742-6596/1770/1/012018</a:t>
            </a:r>
            <a:endParaRPr lang="en-GB" sz="5200" dirty="0">
              <a:effectLst/>
            </a:endParaRPr>
          </a:p>
          <a:p>
            <a:r>
              <a:rPr lang="en-GB" sz="5200" dirty="0">
                <a:effectLst/>
              </a:rPr>
              <a:t>Hasan, R., Palaniappan, S., Mahmood, S., Abbas, A., &amp; Sarker, K. U. (2021). Predicting student performance in higher education using machine learning classification techniques. </a:t>
            </a:r>
            <a:r>
              <a:rPr lang="en-GB" sz="5200" i="1" dirty="0">
                <a:effectLst/>
              </a:rPr>
              <a:t>International Journal of Emerging Technologies in Learning, 16</a:t>
            </a:r>
            <a:r>
              <a:rPr lang="en-GB" sz="5200" dirty="0">
                <a:effectLst/>
              </a:rPr>
              <a:t>(18), 151–166. </a:t>
            </a:r>
            <a:r>
              <a:rPr lang="en-GB" sz="5200" dirty="0">
                <a:effectLst/>
                <a:hlinkClick r:id="rId3"/>
              </a:rPr>
              <a:t>https://doi.org/10.3991/ijet.v16i18.23517</a:t>
            </a:r>
            <a:endParaRPr lang="en-GB" sz="5200" dirty="0">
              <a:effectLst/>
            </a:endParaRPr>
          </a:p>
          <a:p>
            <a:r>
              <a:rPr lang="en-GB" sz="5200" dirty="0">
                <a:effectLst/>
              </a:rPr>
              <a:t>Hellas, A., et al. (2018). Predicting academic performance: A systematic literature review. </a:t>
            </a:r>
            <a:r>
              <a:rPr lang="en-GB" sz="5200" i="1" dirty="0">
                <a:effectLst/>
              </a:rPr>
              <a:t>Proceedings of the 23rd Annual ACM Conference on Innovation and Technology in Computer Science Education</a:t>
            </a:r>
            <a:r>
              <a:rPr lang="en-GB" sz="5200" dirty="0">
                <a:effectLst/>
              </a:rPr>
              <a:t>, 175–199. </a:t>
            </a:r>
            <a:r>
              <a:rPr lang="en-GB" sz="5200" dirty="0">
                <a:effectLst/>
                <a:hlinkClick r:id="rId4"/>
              </a:rPr>
              <a:t>https://doi.org/10.1145/3197091.3197099</a:t>
            </a:r>
            <a:endParaRPr lang="en-GB" sz="5200" dirty="0">
              <a:effectLst/>
            </a:endParaRPr>
          </a:p>
          <a:p>
            <a:r>
              <a:rPr lang="en-GB" sz="5200" dirty="0">
                <a:effectLst/>
              </a:rPr>
              <a:t>Kabakus, A. T., &amp; Kara, R. (2022). A highly accurate metaclassifier for placement prediction using multilayer perceptron neural networks. </a:t>
            </a:r>
            <a:r>
              <a:rPr lang="en-GB" sz="5200" i="1" dirty="0">
                <a:effectLst/>
              </a:rPr>
              <a:t>Procedia Computer Science, 207</a:t>
            </a:r>
            <a:r>
              <a:rPr lang="en-GB" sz="5200" dirty="0">
                <a:effectLst/>
              </a:rPr>
              <a:t>, 3453–3462. </a:t>
            </a:r>
            <a:r>
              <a:rPr lang="en-GB" sz="5200" dirty="0">
                <a:effectLst/>
                <a:hlinkClick r:id="rId5"/>
              </a:rPr>
              <a:t>https://doi.org/10.1016/j.procs.2022.09.404</a:t>
            </a:r>
            <a:endParaRPr lang="en-GB" sz="5200" dirty="0">
              <a:effectLst/>
            </a:endParaRPr>
          </a:p>
          <a:p>
            <a:r>
              <a:rPr lang="en-GB" sz="5200" dirty="0">
                <a:effectLst/>
              </a:rPr>
              <a:t>Waheed, H., Hassan, S.-U., Aljohani, N. R., Hardman, J., Alelyani, S., &amp; Nawaz, R. (2020). Predicting academic performance of students from VLE big data using deep learning models. </a:t>
            </a:r>
            <a:r>
              <a:rPr lang="en-GB" sz="5200" i="1" dirty="0">
                <a:effectLst/>
              </a:rPr>
              <a:t>Applied Sciences, 10</a:t>
            </a:r>
            <a:r>
              <a:rPr lang="en-GB" sz="5200" dirty="0">
                <a:effectLst/>
              </a:rPr>
              <a:t>(19), 6868. </a:t>
            </a:r>
            <a:r>
              <a:rPr lang="en-GB" sz="5200" dirty="0">
                <a:effectLst/>
                <a:hlinkClick r:id="rId6"/>
              </a:rPr>
              <a:t>https://doi.org/10.3390/app10196868</a:t>
            </a:r>
            <a:endParaRPr lang="en-GB" sz="5200" dirty="0">
              <a:effectLst/>
            </a:endParaRPr>
          </a:p>
          <a:p>
            <a:r>
              <a:rPr lang="en-GB" sz="5200" dirty="0">
                <a:effectLst/>
              </a:rPr>
              <a:t>Yousafzai, B. K., Hayat, M., &amp; Afzal, S. (2021). Academic performance prediction using data mining techniques: A case study of undergraduate students. </a:t>
            </a:r>
            <a:r>
              <a:rPr lang="en-GB" sz="5200" i="1" dirty="0">
                <a:effectLst/>
              </a:rPr>
              <a:t>International Journal of Advanced Computer Science and Applications, 12</a:t>
            </a:r>
            <a:r>
              <a:rPr lang="en-GB" sz="5200" dirty="0">
                <a:effectLst/>
              </a:rPr>
              <a:t>(4), 523–532. </a:t>
            </a:r>
            <a:r>
              <a:rPr lang="en-GB" sz="5200" dirty="0">
                <a:effectLst/>
                <a:hlinkClick r:id="rId7"/>
              </a:rPr>
              <a:t>https://doi.org/10.14569/IJACSA.2021.0120464</a:t>
            </a:r>
            <a:endParaRPr lang="en-GB" sz="5200" dirty="0">
              <a:effectLst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005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95486"/>
            <a:ext cx="8928992" cy="857250"/>
          </a:xfrm>
        </p:spPr>
        <p:txBody>
          <a:bodyPr/>
          <a:lstStyle/>
          <a:p>
            <a:r>
              <a:rPr lang="en-GB" dirty="0"/>
              <a:t>Appreciation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75606"/>
            <a:ext cx="9036496" cy="3456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500" dirty="0">
                <a:effectLst/>
              </a:rPr>
              <a:t>I sincerely thank:</a:t>
            </a:r>
          </a:p>
          <a:p>
            <a:pPr marL="0" indent="0">
              <a:buNone/>
            </a:pPr>
            <a:r>
              <a:rPr lang="en-GB" sz="2500" dirty="0">
                <a:effectLst/>
              </a:rPr>
              <a:t>Almighty God, for strength and guidance</a:t>
            </a:r>
          </a:p>
          <a:p>
            <a:pPr marL="0" indent="0">
              <a:buNone/>
            </a:pPr>
            <a:r>
              <a:rPr lang="en-GB" sz="2500" dirty="0">
                <a:effectLst/>
              </a:rPr>
              <a:t>Dr Oluranti Jonathan for invaluable support and direction, The Head of Department</a:t>
            </a:r>
          </a:p>
          <a:p>
            <a:pPr marL="0" indent="0">
              <a:buNone/>
            </a:pPr>
            <a:r>
              <a:rPr lang="en-GB" sz="2500" dirty="0">
                <a:effectLst/>
              </a:rPr>
              <a:t>My family and classmates</a:t>
            </a:r>
          </a:p>
          <a:p>
            <a:pPr marL="0" indent="0">
              <a:buNone/>
            </a:pPr>
            <a:r>
              <a:rPr lang="en-GB" sz="2500" dirty="0">
                <a:effectLst/>
              </a:rPr>
              <a:t>Everyone who contributed to the success of this project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81B8-F12E-4FB9-A3A8-66EE472E4641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083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A flower bouquet">
            <a:extLst>
              <a:ext uri="{FF2B5EF4-FFF2-40B4-BE49-F238E27FC236}">
                <a16:creationId xmlns:a16="http://schemas.microsoft.com/office/drawing/2014/main" id="{F42BE969-5F1A-4521-8689-DEC7C28DAB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4208" y="1995686"/>
            <a:ext cx="3291830" cy="329183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800" dirty="0"/>
              <a:t>Thank You for Listening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sz="4400" dirty="0"/>
              <a:t>Questions, Comments and Suggestions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42121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8952</TotalTime>
  <Words>1210</Words>
  <Application>Microsoft Office PowerPoint</Application>
  <PresentationFormat>On-screen Show (16:9)</PresentationFormat>
  <Paragraphs>124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Book Antiqua</vt:lpstr>
      <vt:lpstr>Convection</vt:lpstr>
      <vt:lpstr>Rockwell</vt:lpstr>
      <vt:lpstr>Wingdings</vt:lpstr>
      <vt:lpstr>Roboto</vt:lpstr>
      <vt:lpstr>Calibri</vt:lpstr>
      <vt:lpstr>Office Theme</vt:lpstr>
      <vt:lpstr>Development of a Student Academic Performance Prediction System using Machine Learning Algorithm</vt:lpstr>
      <vt:lpstr>Presentation Outline</vt:lpstr>
      <vt:lpstr>Introduction</vt:lpstr>
      <vt:lpstr>Statement of the Problem</vt:lpstr>
      <vt:lpstr>Aim</vt:lpstr>
      <vt:lpstr>Objectives</vt:lpstr>
      <vt:lpstr>Methodology Overview</vt:lpstr>
      <vt:lpstr>Objectives-Methodology Mapping Table</vt:lpstr>
      <vt:lpstr>PowerPoint Presentation</vt:lpstr>
      <vt:lpstr>Literature Review: Key Findings</vt:lpstr>
      <vt:lpstr>Related Works Comparison Table</vt:lpstr>
      <vt:lpstr>Significance of the Study</vt:lpstr>
      <vt:lpstr>Conclusion</vt:lpstr>
      <vt:lpstr>References</vt:lpstr>
      <vt:lpstr>Appreciation</vt:lpstr>
      <vt:lpstr>Thank You for Listening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Analysis and Design with UML</dc:title>
  <dc:creator>Azubuike Ezenwoke</dc:creator>
  <cp:lastModifiedBy>MICHEAL OKEKE</cp:lastModifiedBy>
  <cp:revision>247</cp:revision>
  <dcterms:created xsi:type="dcterms:W3CDTF">2015-10-25T15:33:18Z</dcterms:created>
  <dcterms:modified xsi:type="dcterms:W3CDTF">2025-12-02T11:42:47Z</dcterms:modified>
</cp:coreProperties>
</file>